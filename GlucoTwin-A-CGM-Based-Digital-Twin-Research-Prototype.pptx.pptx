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JetBrains Mono Medium" charset="1" panose="02010609020102050004"/>
      <p:regular r:id="rId18"/>
    </p:embeddedFont>
    <p:embeddedFont>
      <p:font typeface="Fira Sans Condensed" charset="1" panose="020B050305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0000">
                <a:alpha val="17255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5095" y="1410805"/>
            <a:ext cx="10294782" cy="7473439"/>
            <a:chOff x="0" y="0"/>
            <a:chExt cx="13726376" cy="9964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26415" cy="9964548"/>
            </a:xfrm>
            <a:custGeom>
              <a:avLst/>
              <a:gdLst/>
              <a:ahLst/>
              <a:cxnLst/>
              <a:rect r="r" b="b" t="t" l="l"/>
              <a:pathLst>
                <a:path h="9964548" w="13726415">
                  <a:moveTo>
                    <a:pt x="0" y="49530"/>
                  </a:moveTo>
                  <a:cubicBezTo>
                    <a:pt x="0" y="22225"/>
                    <a:pt x="22225" y="0"/>
                    <a:pt x="49530" y="0"/>
                  </a:cubicBezTo>
                  <a:lnTo>
                    <a:pt x="13676885" y="0"/>
                  </a:lnTo>
                  <a:cubicBezTo>
                    <a:pt x="13704190" y="0"/>
                    <a:pt x="13726415" y="22225"/>
                    <a:pt x="13726415" y="49530"/>
                  </a:cubicBezTo>
                  <a:lnTo>
                    <a:pt x="13726415" y="9915017"/>
                  </a:lnTo>
                  <a:cubicBezTo>
                    <a:pt x="13726415" y="9942323"/>
                    <a:pt x="13704190" y="9964548"/>
                    <a:pt x="13676885" y="9964548"/>
                  </a:cubicBezTo>
                  <a:lnTo>
                    <a:pt x="49530" y="9964548"/>
                  </a:lnTo>
                  <a:cubicBezTo>
                    <a:pt x="22225" y="9964548"/>
                    <a:pt x="0" y="9942323"/>
                    <a:pt x="0" y="9915017"/>
                  </a:cubicBezTo>
                  <a:close/>
                </a:path>
              </a:pathLst>
            </a:custGeom>
            <a:solidFill>
              <a:srgbClr val="0F2A22">
                <a:alpha val="77255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25153" y="1949386"/>
            <a:ext cx="9989753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157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RESEARCH PROTOTYPE · GLUCOTWIN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5153" y="2749401"/>
            <a:ext cx="9074668" cy="351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6"/>
              </a:lnSpc>
            </a:pPr>
            <a:r>
              <a:rPr lang="en-US" sz="7205" spc="-72">
                <a:solidFill>
                  <a:srgbClr val="FFFFFF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GlucoTwin:</a:t>
            </a:r>
          </a:p>
          <a:p>
            <a:pPr algn="l">
              <a:lnSpc>
                <a:spcPts val="7176"/>
              </a:lnSpc>
            </a:pPr>
            <a:r>
              <a:rPr lang="en-US" sz="7205" spc="-72">
                <a:solidFill>
                  <a:srgbClr val="FFFFFF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A CGM-Based Digital Twin Research Prototype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5153" y="6539865"/>
            <a:ext cx="9074668" cy="66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FFFFFF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Retrospective glucose forecasting with uncertainty estimation and synthetic EHR demonstration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5153" y="7374245"/>
            <a:ext cx="9074668" cy="50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INTERACTIVE HISTORICAL REPLAY · MULTI-HORIZON FORECASTS · RESEARCH USE ONLY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800" y="462324"/>
            <a:ext cx="12638370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157">
                <a:solidFill>
                  <a:srgbClr val="9FE3C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01 / MOTIVATION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800" y="854364"/>
            <a:ext cx="12638370" cy="11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4203" spc="-21">
                <a:solidFill>
                  <a:srgbClr val="F4F3E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Glucose forecasting needs a view beyond the current reading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15176" y="456971"/>
            <a:ext cx="3252864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A3C7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WHY THIS PROTOTYPE EXISTS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33800" y="2098329"/>
            <a:ext cx="5592128" cy="7777286"/>
            <a:chOff x="0" y="0"/>
            <a:chExt cx="7456170" cy="10369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56170" cy="10369550"/>
            </a:xfrm>
            <a:custGeom>
              <a:avLst/>
              <a:gdLst/>
              <a:ahLst/>
              <a:cxnLst/>
              <a:rect r="r" b="b" t="t" l="l"/>
              <a:pathLst>
                <a:path h="10369550" w="745617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7334250" y="0"/>
                  </a:lnTo>
                  <a:cubicBezTo>
                    <a:pt x="7401560" y="0"/>
                    <a:pt x="7456170" y="54610"/>
                    <a:pt x="7456170" y="121920"/>
                  </a:cubicBezTo>
                  <a:lnTo>
                    <a:pt x="7456170" y="10247630"/>
                  </a:lnTo>
                  <a:cubicBezTo>
                    <a:pt x="7456170" y="10314940"/>
                    <a:pt x="7401560" y="10369550"/>
                    <a:pt x="7334250" y="10369550"/>
                  </a:cubicBezTo>
                  <a:lnTo>
                    <a:pt x="121920" y="10369550"/>
                  </a:lnTo>
                  <a:cubicBezTo>
                    <a:pt x="54610" y="10369550"/>
                    <a:pt x="0" y="10314940"/>
                    <a:pt x="0" y="10247630"/>
                  </a:cubicBezTo>
                  <a:close/>
                </a:path>
              </a:pathLst>
            </a:custGeom>
            <a:solidFill>
              <a:srgbClr val="13201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76967" y="2408139"/>
            <a:ext cx="5248970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94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THE LIMIT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967" y="2736399"/>
            <a:ext cx="4905813" cy="31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2251" spc="-10">
                <a:solidFill>
                  <a:srgbClr val="FFFFFF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One measurement is not a trajectory.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6967" y="3167767"/>
            <a:ext cx="4905813" cy="98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FFFFFF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CGM values change dynamically, so one measurement does not reveal the future trajectory.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354709" y="2098329"/>
            <a:ext cx="5592280" cy="7777286"/>
            <a:chOff x="0" y="0"/>
            <a:chExt cx="7456373" cy="10369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56424" cy="10369803"/>
            </a:xfrm>
            <a:custGeom>
              <a:avLst/>
              <a:gdLst/>
              <a:ahLst/>
              <a:cxnLst/>
              <a:rect r="r" b="b" t="t" l="l"/>
              <a:pathLst>
                <a:path h="10369803" w="7456424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7334377" y="0"/>
                  </a:lnTo>
                  <a:cubicBezTo>
                    <a:pt x="7401687" y="0"/>
                    <a:pt x="7456424" y="54610"/>
                    <a:pt x="7456424" y="122047"/>
                  </a:cubicBezTo>
                  <a:lnTo>
                    <a:pt x="7456424" y="10247757"/>
                  </a:lnTo>
                  <a:cubicBezTo>
                    <a:pt x="7456424" y="10315067"/>
                    <a:pt x="7401814" y="10369803"/>
                    <a:pt x="7334377" y="10369803"/>
                  </a:cubicBezTo>
                  <a:lnTo>
                    <a:pt x="122047" y="10369803"/>
                  </a:lnTo>
                  <a:cubicBezTo>
                    <a:pt x="54737" y="10369803"/>
                    <a:pt x="0" y="10315194"/>
                    <a:pt x="0" y="10247757"/>
                  </a:cubicBezTo>
                  <a:close/>
                </a:path>
              </a:pathLst>
            </a:custGeom>
            <a:solidFill>
              <a:srgbClr val="13201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97866" y="2408139"/>
            <a:ext cx="5249123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94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THE INTERPRETATION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97866" y="2736399"/>
            <a:ext cx="4905956" cy="31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2251" spc="-10">
                <a:solidFill>
                  <a:srgbClr val="FFFFFF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Longer horizons need uncertainty.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97866" y="3167767"/>
            <a:ext cx="4905956" cy="98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FFFFFF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Longer horizons increase forecasting difficulty and make uncertainty essential to interpretation.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51928" y="2074497"/>
            <a:ext cx="5639943" cy="7824949"/>
            <a:chOff x="0" y="0"/>
            <a:chExt cx="7519924" cy="104332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19924" cy="10433304"/>
            </a:xfrm>
            <a:custGeom>
              <a:avLst/>
              <a:gdLst/>
              <a:ahLst/>
              <a:cxnLst/>
              <a:rect r="r" b="b" t="t" l="l"/>
              <a:pathLst>
                <a:path h="10433304" w="7519924">
                  <a:moveTo>
                    <a:pt x="0" y="123063"/>
                  </a:moveTo>
                  <a:cubicBezTo>
                    <a:pt x="0" y="55118"/>
                    <a:pt x="55118" y="0"/>
                    <a:pt x="123063" y="0"/>
                  </a:cubicBezTo>
                  <a:lnTo>
                    <a:pt x="7396861" y="0"/>
                  </a:lnTo>
                  <a:cubicBezTo>
                    <a:pt x="7464806" y="0"/>
                    <a:pt x="7519924" y="55118"/>
                    <a:pt x="7519924" y="123063"/>
                  </a:cubicBezTo>
                  <a:lnTo>
                    <a:pt x="7519924" y="10310241"/>
                  </a:lnTo>
                  <a:cubicBezTo>
                    <a:pt x="7519924" y="10378186"/>
                    <a:pt x="7464806" y="10433304"/>
                    <a:pt x="7396861" y="10433304"/>
                  </a:cubicBezTo>
                  <a:lnTo>
                    <a:pt x="123063" y="10433304"/>
                  </a:lnTo>
                  <a:cubicBezTo>
                    <a:pt x="55118" y="10433304"/>
                    <a:pt x="0" y="10378186"/>
                    <a:pt x="0" y="10310241"/>
                  </a:cubicBezTo>
                  <a:close/>
                </a:path>
              </a:pathLst>
            </a:custGeom>
            <a:solidFill>
              <a:srgbClr val="13201B"/>
            </a:solidFill>
            <a:ln w="47661" cap="sq">
              <a:solidFill>
                <a:srgbClr val="F2D13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566580" y="2451030"/>
            <a:ext cx="1474965" cy="386515"/>
            <a:chOff x="0" y="0"/>
            <a:chExt cx="1966620" cy="5153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66595" cy="515366"/>
            </a:xfrm>
            <a:custGeom>
              <a:avLst/>
              <a:gdLst/>
              <a:ahLst/>
              <a:cxnLst/>
              <a:rect r="r" b="b" t="t" l="l"/>
              <a:pathLst>
                <a:path h="515366" w="1966595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1926971" y="0"/>
                  </a:lnTo>
                  <a:cubicBezTo>
                    <a:pt x="1948815" y="0"/>
                    <a:pt x="1966595" y="17780"/>
                    <a:pt x="1966595" y="39624"/>
                  </a:cubicBezTo>
                  <a:lnTo>
                    <a:pt x="1966595" y="475742"/>
                  </a:lnTo>
                  <a:cubicBezTo>
                    <a:pt x="1966595" y="497586"/>
                    <a:pt x="1948815" y="515366"/>
                    <a:pt x="1926971" y="515366"/>
                  </a:cubicBezTo>
                  <a:lnTo>
                    <a:pt x="39624" y="515366"/>
                  </a:lnTo>
                  <a:cubicBezTo>
                    <a:pt x="17780" y="515366"/>
                    <a:pt x="0" y="497586"/>
                    <a:pt x="0" y="475742"/>
                  </a:cubicBezTo>
                  <a:close/>
                </a:path>
              </a:pathLst>
            </a:custGeom>
            <a:solidFill>
              <a:srgbClr val="113B2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715218" y="2530754"/>
            <a:ext cx="2092766" cy="23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93">
                <a:solidFill>
                  <a:srgbClr val="E3ECE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OBJECTIVE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66580" y="2930471"/>
            <a:ext cx="4810639" cy="31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2251" spc="-10">
                <a:solidFill>
                  <a:srgbClr val="FFFFFF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Make the forecast inspectable.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66580" y="3361839"/>
            <a:ext cx="4810639" cy="16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FFFFFF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GlucoTwin replays historical CGM observations, forecasts four horizons, shows prediction intervals, evaluates held-out data, and demonstrates a separate synthetic EHR interface.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66580" y="5162721"/>
            <a:ext cx="4810639" cy="101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AN INTERACTIVE AND TRANSPARENT RESEARCH PROTOTYPE FOR RETROSPECTIVE GLUCOSE FORECASTING AND UNCERTAINTY ANALYSIS.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800" y="462324"/>
            <a:ext cx="17768040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157">
                <a:solidFill>
                  <a:srgbClr val="9FE3C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02 / SYSTEM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800" y="854364"/>
            <a:ext cx="17234230" cy="52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4203" spc="-21">
                <a:solidFill>
                  <a:srgbClr val="F4F3E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The prototype turns historical CGM data into an interactive workflow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3800" y="1523419"/>
            <a:ext cx="17768040" cy="34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E3ECE7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From prepared records to forecast interpretation, with a separate synthetic EHR demonstration surface.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33800" y="2036216"/>
            <a:ext cx="5592128" cy="5661231"/>
            <a:chOff x="0" y="0"/>
            <a:chExt cx="7456170" cy="7548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56170" cy="7548245"/>
            </a:xfrm>
            <a:custGeom>
              <a:avLst/>
              <a:gdLst/>
              <a:ahLst/>
              <a:cxnLst/>
              <a:rect r="r" b="b" t="t" l="l"/>
              <a:pathLst>
                <a:path h="7548245" w="745617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7334250" y="0"/>
                  </a:lnTo>
                  <a:cubicBezTo>
                    <a:pt x="7401560" y="0"/>
                    <a:pt x="7456170" y="54610"/>
                    <a:pt x="7456170" y="121920"/>
                  </a:cubicBezTo>
                  <a:lnTo>
                    <a:pt x="7456170" y="7426325"/>
                  </a:lnTo>
                  <a:cubicBezTo>
                    <a:pt x="7456170" y="7493635"/>
                    <a:pt x="7401560" y="7548245"/>
                    <a:pt x="7334250" y="7548245"/>
                  </a:cubicBezTo>
                  <a:lnTo>
                    <a:pt x="121920" y="7548245"/>
                  </a:lnTo>
                  <a:cubicBezTo>
                    <a:pt x="54610" y="7548245"/>
                    <a:pt x="0" y="7493635"/>
                    <a:pt x="0" y="7426325"/>
                  </a:cubicBezTo>
                  <a:close/>
                </a:path>
              </a:pathLst>
            </a:custGeom>
            <a:solidFill>
              <a:srgbClr val="F4F3E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38838" y="2303126"/>
            <a:ext cx="433711" cy="433730"/>
            <a:chOff x="0" y="0"/>
            <a:chExt cx="578282" cy="5783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8231" cy="578358"/>
            </a:xfrm>
            <a:custGeom>
              <a:avLst/>
              <a:gdLst/>
              <a:ahLst/>
              <a:cxnLst/>
              <a:rect r="r" b="b" t="t" l="l"/>
              <a:pathLst>
                <a:path h="578358" w="578231">
                  <a:moveTo>
                    <a:pt x="0" y="289179"/>
                  </a:moveTo>
                  <a:cubicBezTo>
                    <a:pt x="0" y="129413"/>
                    <a:pt x="129413" y="0"/>
                    <a:pt x="289179" y="0"/>
                  </a:cubicBezTo>
                  <a:cubicBezTo>
                    <a:pt x="448945" y="0"/>
                    <a:pt x="578231" y="129413"/>
                    <a:pt x="578231" y="289179"/>
                  </a:cubicBezTo>
                  <a:cubicBezTo>
                    <a:pt x="578231" y="448945"/>
                    <a:pt x="448818" y="578358"/>
                    <a:pt x="289179" y="578358"/>
                  </a:cubicBezTo>
                  <a:cubicBezTo>
                    <a:pt x="129540" y="578358"/>
                    <a:pt x="0" y="448818"/>
                    <a:pt x="0" y="289179"/>
                  </a:cubicBezTo>
                  <a:close/>
                </a:path>
              </a:pathLst>
            </a:custGeom>
            <a:solidFill>
              <a:srgbClr val="9FE3C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0118" y="2434171"/>
            <a:ext cx="1146096" cy="20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51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8838" y="2829792"/>
            <a:ext cx="4982070" cy="31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2251" spc="-10">
                <a:solidFill>
                  <a:srgbClr val="13201B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Historical CGM 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8838" y="3261150"/>
            <a:ext cx="5287099" cy="34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13201B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Model-ready features and saved models.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354709" y="2036216"/>
            <a:ext cx="5592280" cy="5661231"/>
            <a:chOff x="0" y="0"/>
            <a:chExt cx="7456373" cy="75483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56424" cy="7548372"/>
            </a:xfrm>
            <a:custGeom>
              <a:avLst/>
              <a:gdLst/>
              <a:ahLst/>
              <a:cxnLst/>
              <a:rect r="r" b="b" t="t" l="l"/>
              <a:pathLst>
                <a:path h="7548372" w="7456424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7334377" y="0"/>
                  </a:lnTo>
                  <a:cubicBezTo>
                    <a:pt x="7401687" y="0"/>
                    <a:pt x="7456424" y="54610"/>
                    <a:pt x="7456424" y="122047"/>
                  </a:cubicBezTo>
                  <a:lnTo>
                    <a:pt x="7456424" y="7426325"/>
                  </a:lnTo>
                  <a:cubicBezTo>
                    <a:pt x="7456424" y="7493635"/>
                    <a:pt x="7401814" y="7548372"/>
                    <a:pt x="7334377" y="7548372"/>
                  </a:cubicBezTo>
                  <a:lnTo>
                    <a:pt x="122047" y="7548372"/>
                  </a:lnTo>
                  <a:cubicBezTo>
                    <a:pt x="54737" y="7548372"/>
                    <a:pt x="0" y="7493762"/>
                    <a:pt x="0" y="7426325"/>
                  </a:cubicBezTo>
                  <a:close/>
                </a:path>
              </a:pathLst>
            </a:custGeom>
            <a:solidFill>
              <a:srgbClr val="F4F3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659737" y="2303126"/>
            <a:ext cx="433711" cy="433730"/>
            <a:chOff x="0" y="0"/>
            <a:chExt cx="578282" cy="5783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8231" cy="578358"/>
            </a:xfrm>
            <a:custGeom>
              <a:avLst/>
              <a:gdLst/>
              <a:ahLst/>
              <a:cxnLst/>
              <a:rect r="r" b="b" t="t" l="l"/>
              <a:pathLst>
                <a:path h="578358" w="578231">
                  <a:moveTo>
                    <a:pt x="0" y="289179"/>
                  </a:moveTo>
                  <a:cubicBezTo>
                    <a:pt x="0" y="129413"/>
                    <a:pt x="129413" y="0"/>
                    <a:pt x="289179" y="0"/>
                  </a:cubicBezTo>
                  <a:cubicBezTo>
                    <a:pt x="448945" y="0"/>
                    <a:pt x="578231" y="129413"/>
                    <a:pt x="578231" y="289179"/>
                  </a:cubicBezTo>
                  <a:cubicBezTo>
                    <a:pt x="578231" y="448945"/>
                    <a:pt x="448818" y="578358"/>
                    <a:pt x="289179" y="578358"/>
                  </a:cubicBezTo>
                  <a:cubicBezTo>
                    <a:pt x="129540" y="578358"/>
                    <a:pt x="0" y="448818"/>
                    <a:pt x="0" y="289179"/>
                  </a:cubicBezTo>
                  <a:close/>
                </a:path>
              </a:pathLst>
            </a:custGeom>
            <a:solidFill>
              <a:srgbClr val="9FE3C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754016" y="2434171"/>
            <a:ext cx="1160250" cy="20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51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59737" y="2829792"/>
            <a:ext cx="4982213" cy="31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2251" spc="-10">
                <a:solidFill>
                  <a:srgbClr val="13201B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Forecast inference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59737" y="3261150"/>
            <a:ext cx="4982213" cy="66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13201B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Uncertainty estimation feeds an interactive Streamlit dashboard.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75760" y="2036216"/>
            <a:ext cx="5592280" cy="5661231"/>
            <a:chOff x="0" y="0"/>
            <a:chExt cx="7456373" cy="75483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56424" cy="7548372"/>
            </a:xfrm>
            <a:custGeom>
              <a:avLst/>
              <a:gdLst/>
              <a:ahLst/>
              <a:cxnLst/>
              <a:rect r="r" b="b" t="t" l="l"/>
              <a:pathLst>
                <a:path h="7548372" w="7456424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7334377" y="0"/>
                  </a:lnTo>
                  <a:cubicBezTo>
                    <a:pt x="7401687" y="0"/>
                    <a:pt x="7456424" y="54610"/>
                    <a:pt x="7456424" y="122047"/>
                  </a:cubicBezTo>
                  <a:lnTo>
                    <a:pt x="7456424" y="7426325"/>
                  </a:lnTo>
                  <a:cubicBezTo>
                    <a:pt x="7456424" y="7493635"/>
                    <a:pt x="7401814" y="7548372"/>
                    <a:pt x="7334377" y="7548372"/>
                  </a:cubicBezTo>
                  <a:lnTo>
                    <a:pt x="122047" y="7548372"/>
                  </a:lnTo>
                  <a:cubicBezTo>
                    <a:pt x="54737" y="7548372"/>
                    <a:pt x="0" y="7493762"/>
                    <a:pt x="0" y="7426325"/>
                  </a:cubicBezTo>
                  <a:close/>
                </a:path>
              </a:pathLst>
            </a:custGeom>
            <a:solidFill>
              <a:srgbClr val="F4F3E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480788" y="2303126"/>
            <a:ext cx="433711" cy="433730"/>
            <a:chOff x="0" y="0"/>
            <a:chExt cx="578282" cy="57830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8231" cy="578358"/>
            </a:xfrm>
            <a:custGeom>
              <a:avLst/>
              <a:gdLst/>
              <a:ahLst/>
              <a:cxnLst/>
              <a:rect r="r" b="b" t="t" l="l"/>
              <a:pathLst>
                <a:path h="578358" w="578231">
                  <a:moveTo>
                    <a:pt x="0" y="289179"/>
                  </a:moveTo>
                  <a:cubicBezTo>
                    <a:pt x="0" y="129413"/>
                    <a:pt x="129413" y="0"/>
                    <a:pt x="289179" y="0"/>
                  </a:cubicBezTo>
                  <a:cubicBezTo>
                    <a:pt x="448945" y="0"/>
                    <a:pt x="578231" y="129413"/>
                    <a:pt x="578231" y="289179"/>
                  </a:cubicBezTo>
                  <a:cubicBezTo>
                    <a:pt x="578231" y="448945"/>
                    <a:pt x="448818" y="578358"/>
                    <a:pt x="289179" y="578358"/>
                  </a:cubicBezTo>
                  <a:cubicBezTo>
                    <a:pt x="129540" y="578358"/>
                    <a:pt x="0" y="448818"/>
                    <a:pt x="0" y="289179"/>
                  </a:cubicBezTo>
                  <a:close/>
                </a:path>
              </a:pathLst>
            </a:custGeom>
            <a:solidFill>
              <a:srgbClr val="9FE3C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574029" y="2434171"/>
            <a:ext cx="1162336" cy="20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51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80788" y="2829792"/>
            <a:ext cx="4982213" cy="31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2251" spc="-10">
                <a:solidFill>
                  <a:srgbClr val="13201B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Synthetic EHR workflow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80788" y="3261150"/>
            <a:ext cx="4982213" cy="98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13201B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Synthea synthetic records become EHR summaries and a virtual-patient demonstration panel.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33800" y="7869031"/>
            <a:ext cx="5592128" cy="1584770"/>
            <a:chOff x="0" y="0"/>
            <a:chExt cx="7456170" cy="211302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56170" cy="2113026"/>
            </a:xfrm>
            <a:custGeom>
              <a:avLst/>
              <a:gdLst/>
              <a:ahLst/>
              <a:cxnLst/>
              <a:rect r="r" b="b" t="t" l="l"/>
              <a:pathLst>
                <a:path h="2113026" w="7456170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7334123" y="0"/>
                  </a:lnTo>
                  <a:cubicBezTo>
                    <a:pt x="7401560" y="0"/>
                    <a:pt x="7456170" y="54610"/>
                    <a:pt x="7456170" y="122047"/>
                  </a:cubicBezTo>
                  <a:lnTo>
                    <a:pt x="7456170" y="1990979"/>
                  </a:lnTo>
                  <a:cubicBezTo>
                    <a:pt x="7456170" y="2058416"/>
                    <a:pt x="7401560" y="2113026"/>
                    <a:pt x="7334123" y="2113026"/>
                  </a:cubicBezTo>
                  <a:lnTo>
                    <a:pt x="122047" y="2113026"/>
                  </a:lnTo>
                  <a:cubicBezTo>
                    <a:pt x="54610" y="2113026"/>
                    <a:pt x="0" y="2058416"/>
                    <a:pt x="0" y="1990979"/>
                  </a:cubicBezTo>
                  <a:close/>
                </a:path>
              </a:pathLst>
            </a:custGeom>
            <a:solidFill>
              <a:srgbClr val="DDF2E8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00710" y="8259785"/>
            <a:ext cx="5058327" cy="581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5404" spc="-54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95,619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0710" y="8974207"/>
            <a:ext cx="5325227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CGM RECORDS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354709" y="7869031"/>
            <a:ext cx="5592280" cy="1584770"/>
            <a:chOff x="0" y="0"/>
            <a:chExt cx="7456373" cy="21130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56424" cy="2113026"/>
            </a:xfrm>
            <a:custGeom>
              <a:avLst/>
              <a:gdLst/>
              <a:ahLst/>
              <a:cxnLst/>
              <a:rect r="r" b="b" t="t" l="l"/>
              <a:pathLst>
                <a:path h="2113026" w="7456424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7334377" y="0"/>
                  </a:lnTo>
                  <a:cubicBezTo>
                    <a:pt x="7401814" y="0"/>
                    <a:pt x="7456424" y="54610"/>
                    <a:pt x="7456424" y="122047"/>
                  </a:cubicBezTo>
                  <a:lnTo>
                    <a:pt x="7456424" y="1990979"/>
                  </a:lnTo>
                  <a:cubicBezTo>
                    <a:pt x="7456424" y="2058416"/>
                    <a:pt x="7401814" y="2113026"/>
                    <a:pt x="7334377" y="2113026"/>
                  </a:cubicBezTo>
                  <a:lnTo>
                    <a:pt x="122047" y="2113026"/>
                  </a:lnTo>
                  <a:cubicBezTo>
                    <a:pt x="54610" y="2113026"/>
                    <a:pt x="0" y="2058416"/>
                    <a:pt x="0" y="1990979"/>
                  </a:cubicBezTo>
                  <a:close/>
                </a:path>
              </a:pathLst>
            </a:custGeom>
            <a:solidFill>
              <a:srgbClr val="B9D3C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6621609" y="8259785"/>
            <a:ext cx="5058470" cy="581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5404" spc="-54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80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21609" y="8974207"/>
            <a:ext cx="5325380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UNIQUE PATIENT IDENTITIES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175760" y="7869031"/>
            <a:ext cx="5592280" cy="1584770"/>
            <a:chOff x="0" y="0"/>
            <a:chExt cx="7456373" cy="211302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56424" cy="2113026"/>
            </a:xfrm>
            <a:custGeom>
              <a:avLst/>
              <a:gdLst/>
              <a:ahLst/>
              <a:cxnLst/>
              <a:rect r="r" b="b" t="t" l="l"/>
              <a:pathLst>
                <a:path h="2113026" w="7456424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7334377" y="0"/>
                  </a:lnTo>
                  <a:cubicBezTo>
                    <a:pt x="7401814" y="0"/>
                    <a:pt x="7456424" y="54610"/>
                    <a:pt x="7456424" y="122047"/>
                  </a:cubicBezTo>
                  <a:lnTo>
                    <a:pt x="7456424" y="1990979"/>
                  </a:lnTo>
                  <a:cubicBezTo>
                    <a:pt x="7456424" y="2058416"/>
                    <a:pt x="7401814" y="2113026"/>
                    <a:pt x="7334377" y="2113026"/>
                  </a:cubicBezTo>
                  <a:lnTo>
                    <a:pt x="122047" y="2113026"/>
                  </a:lnTo>
                  <a:cubicBezTo>
                    <a:pt x="54610" y="2113026"/>
                    <a:pt x="0" y="2058416"/>
                    <a:pt x="0" y="1990979"/>
                  </a:cubicBezTo>
                  <a:close/>
                </a:path>
              </a:pathLst>
            </a:custGeom>
            <a:solidFill>
              <a:srgbClr val="BFE0E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442660" y="8259785"/>
            <a:ext cx="5058470" cy="581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5404" spc="-54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33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42660" y="8974207"/>
            <a:ext cx="5325380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PREPARED FEATURE COLUMNS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3800" y="9624803"/>
            <a:ext cx="17768040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A3C7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TRAIN 67,532 · VALIDATION 10,713 · TEST 17,374 RECORDS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800" y="462324"/>
            <a:ext cx="12351058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157">
                <a:solidFill>
                  <a:srgbClr val="9FE3C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03 / HISTORICAL REPLAY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800" y="854364"/>
            <a:ext cx="12351058" cy="52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4203" spc="-21">
                <a:solidFill>
                  <a:srgbClr val="F4F3E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Forecasting starts from a selected historical state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00638" y="456971"/>
            <a:ext cx="3367249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A3C7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HELD-OUT PATIENT WORKFLOW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33800" y="1521914"/>
            <a:ext cx="9636471" cy="8353701"/>
            <a:chOff x="0" y="0"/>
            <a:chExt cx="12848628" cy="111382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48590" cy="11138281"/>
            </a:xfrm>
            <a:custGeom>
              <a:avLst/>
              <a:gdLst/>
              <a:ahLst/>
              <a:cxnLst/>
              <a:rect r="r" b="b" t="t" l="l"/>
              <a:pathLst>
                <a:path h="11138281" w="1284859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2726670" y="0"/>
                  </a:lnTo>
                  <a:cubicBezTo>
                    <a:pt x="12793980" y="0"/>
                    <a:pt x="12848590" y="54610"/>
                    <a:pt x="12848590" y="121920"/>
                  </a:cubicBezTo>
                  <a:lnTo>
                    <a:pt x="12848590" y="11016361"/>
                  </a:lnTo>
                  <a:cubicBezTo>
                    <a:pt x="12848590" y="11083671"/>
                    <a:pt x="12793980" y="11138281"/>
                    <a:pt x="12726670" y="11138281"/>
                  </a:cubicBezTo>
                  <a:lnTo>
                    <a:pt x="121920" y="11138281"/>
                  </a:lnTo>
                  <a:cubicBezTo>
                    <a:pt x="54610" y="11138281"/>
                    <a:pt x="0" y="11083671"/>
                    <a:pt x="0" y="11016361"/>
                  </a:cubicBezTo>
                  <a:close/>
                </a:path>
              </a:pathLst>
            </a:custGeom>
            <a:solidFill>
              <a:srgbClr val="F4F3EC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76967" y="1807902"/>
            <a:ext cx="8950147" cy="66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13201B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Select a held-out patient, segment, and timestamp; retrieve the historical state; then run the saved forecasting inference engine.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76967" y="2704833"/>
            <a:ext cx="2953350" cy="28594"/>
            <a:chOff x="0" y="0"/>
            <a:chExt cx="3937800" cy="38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37762" cy="38100"/>
            </a:xfrm>
            <a:custGeom>
              <a:avLst/>
              <a:gdLst/>
              <a:ahLst/>
              <a:cxnLst/>
              <a:rect r="r" b="b" t="t" l="l"/>
              <a:pathLst>
                <a:path h="38100" w="393776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3918712" y="0"/>
                  </a:lnTo>
                  <a:cubicBezTo>
                    <a:pt x="3929253" y="0"/>
                    <a:pt x="3937762" y="8509"/>
                    <a:pt x="3937762" y="19050"/>
                  </a:cubicBezTo>
                  <a:cubicBezTo>
                    <a:pt x="3937762" y="29591"/>
                    <a:pt x="3929253" y="38100"/>
                    <a:pt x="391871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9FE3C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6967" y="2971743"/>
            <a:ext cx="9293304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94">
                <a:solidFill>
                  <a:srgbClr val="13201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HORIZONS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6967" y="3378660"/>
            <a:ext cx="2065953" cy="1508512"/>
            <a:chOff x="0" y="0"/>
            <a:chExt cx="2754605" cy="20113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54630" cy="2011426"/>
            </a:xfrm>
            <a:custGeom>
              <a:avLst/>
              <a:gdLst/>
              <a:ahLst/>
              <a:cxnLst/>
              <a:rect r="r" b="b" t="t" l="l"/>
              <a:pathLst>
                <a:path h="2011426" w="2754630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2632583" y="0"/>
                  </a:lnTo>
                  <a:cubicBezTo>
                    <a:pt x="2700020" y="0"/>
                    <a:pt x="2754630" y="54610"/>
                    <a:pt x="2754630" y="122047"/>
                  </a:cubicBezTo>
                  <a:lnTo>
                    <a:pt x="2754630" y="1889379"/>
                  </a:lnTo>
                  <a:cubicBezTo>
                    <a:pt x="2754630" y="1956816"/>
                    <a:pt x="2700020" y="2011426"/>
                    <a:pt x="2632583" y="2011426"/>
                  </a:cubicBezTo>
                  <a:lnTo>
                    <a:pt x="122047" y="2011426"/>
                  </a:lnTo>
                  <a:cubicBezTo>
                    <a:pt x="54610" y="2011426"/>
                    <a:pt x="0" y="1956816"/>
                    <a:pt x="0" y="1889379"/>
                  </a:cubicBezTo>
                  <a:close/>
                </a:path>
              </a:pathLst>
            </a:custGeom>
            <a:solidFill>
              <a:srgbClr val="DDF2E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67610" y="3731276"/>
            <a:ext cx="1684668" cy="581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5404" spc="-54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+30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7610" y="4445699"/>
            <a:ext cx="1875311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MINUTES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171692" y="3378660"/>
            <a:ext cx="2065953" cy="1508512"/>
            <a:chOff x="0" y="0"/>
            <a:chExt cx="2754605" cy="2011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54630" cy="2011426"/>
            </a:xfrm>
            <a:custGeom>
              <a:avLst/>
              <a:gdLst/>
              <a:ahLst/>
              <a:cxnLst/>
              <a:rect r="r" b="b" t="t" l="l"/>
              <a:pathLst>
                <a:path h="2011426" w="2754630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2632583" y="0"/>
                  </a:lnTo>
                  <a:cubicBezTo>
                    <a:pt x="2700020" y="0"/>
                    <a:pt x="2754630" y="54610"/>
                    <a:pt x="2754630" y="122047"/>
                  </a:cubicBezTo>
                  <a:lnTo>
                    <a:pt x="2754630" y="1889379"/>
                  </a:lnTo>
                  <a:cubicBezTo>
                    <a:pt x="2754630" y="1956816"/>
                    <a:pt x="2700020" y="2011426"/>
                    <a:pt x="2632583" y="2011426"/>
                  </a:cubicBezTo>
                  <a:lnTo>
                    <a:pt x="122047" y="2011426"/>
                  </a:lnTo>
                  <a:cubicBezTo>
                    <a:pt x="54610" y="2011426"/>
                    <a:pt x="0" y="1956816"/>
                    <a:pt x="0" y="1889379"/>
                  </a:cubicBezTo>
                  <a:close/>
                </a:path>
              </a:pathLst>
            </a:custGeom>
            <a:solidFill>
              <a:srgbClr val="B9D3C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362335" y="3731276"/>
            <a:ext cx="1684668" cy="581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5404" spc="-54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+60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62335" y="4445699"/>
            <a:ext cx="1875311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MINUTES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466426" y="3378660"/>
            <a:ext cx="2065953" cy="1508512"/>
            <a:chOff x="0" y="0"/>
            <a:chExt cx="2754605" cy="20113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54630" cy="2011426"/>
            </a:xfrm>
            <a:custGeom>
              <a:avLst/>
              <a:gdLst/>
              <a:ahLst/>
              <a:cxnLst/>
              <a:rect r="r" b="b" t="t" l="l"/>
              <a:pathLst>
                <a:path h="2011426" w="2754630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2632583" y="0"/>
                  </a:lnTo>
                  <a:cubicBezTo>
                    <a:pt x="2700020" y="0"/>
                    <a:pt x="2754630" y="54610"/>
                    <a:pt x="2754630" y="122047"/>
                  </a:cubicBezTo>
                  <a:lnTo>
                    <a:pt x="2754630" y="1889379"/>
                  </a:lnTo>
                  <a:cubicBezTo>
                    <a:pt x="2754630" y="1956816"/>
                    <a:pt x="2700020" y="2011426"/>
                    <a:pt x="2632583" y="2011426"/>
                  </a:cubicBezTo>
                  <a:lnTo>
                    <a:pt x="122047" y="2011426"/>
                  </a:lnTo>
                  <a:cubicBezTo>
                    <a:pt x="54610" y="2011426"/>
                    <a:pt x="0" y="1956816"/>
                    <a:pt x="0" y="1889379"/>
                  </a:cubicBezTo>
                  <a:close/>
                </a:path>
              </a:pathLst>
            </a:custGeom>
            <a:solidFill>
              <a:srgbClr val="BFE0E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657069" y="3731276"/>
            <a:ext cx="1684668" cy="581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5404" spc="-54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+90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57069" y="4445699"/>
            <a:ext cx="1875311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MINUTES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761151" y="3378660"/>
            <a:ext cx="2065953" cy="1508512"/>
            <a:chOff x="0" y="0"/>
            <a:chExt cx="2754605" cy="20113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54630" cy="2011426"/>
            </a:xfrm>
            <a:custGeom>
              <a:avLst/>
              <a:gdLst/>
              <a:ahLst/>
              <a:cxnLst/>
              <a:rect r="r" b="b" t="t" l="l"/>
              <a:pathLst>
                <a:path h="2011426" w="2754630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2632583" y="0"/>
                  </a:lnTo>
                  <a:cubicBezTo>
                    <a:pt x="2700020" y="0"/>
                    <a:pt x="2754630" y="54610"/>
                    <a:pt x="2754630" y="122047"/>
                  </a:cubicBezTo>
                  <a:lnTo>
                    <a:pt x="2754630" y="1889379"/>
                  </a:lnTo>
                  <a:cubicBezTo>
                    <a:pt x="2754630" y="1956816"/>
                    <a:pt x="2700020" y="2011426"/>
                    <a:pt x="2632583" y="2011426"/>
                  </a:cubicBezTo>
                  <a:lnTo>
                    <a:pt x="122047" y="2011426"/>
                  </a:lnTo>
                  <a:cubicBezTo>
                    <a:pt x="54610" y="2011426"/>
                    <a:pt x="0" y="1956816"/>
                    <a:pt x="0" y="1889379"/>
                  </a:cubicBezTo>
                  <a:close/>
                </a:path>
              </a:pathLst>
            </a:custGeom>
            <a:solidFill>
              <a:srgbClr val="E8DDB8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951794" y="3731276"/>
            <a:ext cx="1684668" cy="581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5404" spc="-54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+120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51794" y="4445699"/>
            <a:ext cx="1875311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MINUTES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6967" y="5058166"/>
            <a:ext cx="8950147" cy="50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13201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MODELS EXPLORED DURING DEVELOPMENT: LINEAR REGRESSION, RANDOM FOREST, EXTRA TREES, LIGHTGBM, XGBOOST, AND GRU.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398900" y="1521914"/>
            <a:ext cx="7369140" cy="8353701"/>
            <a:chOff x="0" y="0"/>
            <a:chExt cx="9825520" cy="111382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25482" cy="11138281"/>
            </a:xfrm>
            <a:custGeom>
              <a:avLst/>
              <a:gdLst/>
              <a:ahLst/>
              <a:cxnLst/>
              <a:rect r="r" b="b" t="t" l="l"/>
              <a:pathLst>
                <a:path h="11138281" w="9825482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9703435" y="0"/>
                  </a:lnTo>
                  <a:cubicBezTo>
                    <a:pt x="9770872" y="0"/>
                    <a:pt x="9825482" y="54610"/>
                    <a:pt x="9825482" y="122047"/>
                  </a:cubicBezTo>
                  <a:lnTo>
                    <a:pt x="9825482" y="11016234"/>
                  </a:lnTo>
                  <a:cubicBezTo>
                    <a:pt x="9825482" y="11083671"/>
                    <a:pt x="9770872" y="11138281"/>
                    <a:pt x="9703435" y="11138281"/>
                  </a:cubicBezTo>
                  <a:lnTo>
                    <a:pt x="122047" y="11138281"/>
                  </a:lnTo>
                  <a:cubicBezTo>
                    <a:pt x="54610" y="11138281"/>
                    <a:pt x="0" y="11083671"/>
                    <a:pt x="0" y="11016234"/>
                  </a:cubicBezTo>
                  <a:close/>
                </a:path>
              </a:pathLst>
            </a:custGeom>
            <a:solidFill>
              <a:srgbClr val="F4F3E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551414" y="1674438"/>
            <a:ext cx="6672548" cy="4766224"/>
            <a:chOff x="0" y="0"/>
            <a:chExt cx="8896731" cy="6354966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8896731" cy="6354953"/>
            </a:xfrm>
            <a:custGeom>
              <a:avLst/>
              <a:gdLst/>
              <a:ahLst/>
              <a:cxnLst/>
              <a:rect r="r" b="b" t="t" l="l"/>
              <a:pathLst>
                <a:path h="6354953" w="8896731">
                  <a:moveTo>
                    <a:pt x="0" y="0"/>
                  </a:moveTo>
                  <a:lnTo>
                    <a:pt x="8896731" y="0"/>
                  </a:lnTo>
                  <a:lnTo>
                    <a:pt x="8896731" y="6354953"/>
                  </a:lnTo>
                  <a:lnTo>
                    <a:pt x="0" y="6354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" r="0" b="-63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551414" y="6706981"/>
            <a:ext cx="7064111" cy="50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13201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SELECTED PATIENT · SEGMENT · TIMESTAMP · HISTORICAL STATE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800" y="462324"/>
            <a:ext cx="12351058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157">
                <a:solidFill>
                  <a:srgbClr val="9FE3C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04 / UNCERTAINTY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800" y="854364"/>
            <a:ext cx="12351058" cy="11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4203" spc="-21">
                <a:solidFill>
                  <a:srgbClr val="F4F3E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The dashboard makes uncertainty visible beside each forecast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89715" y="456971"/>
            <a:ext cx="4278173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A3C7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INTERPRETATION BEFORE CONFIDENCE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33800" y="2098329"/>
            <a:ext cx="7368997" cy="7777286"/>
            <a:chOff x="0" y="0"/>
            <a:chExt cx="9825330" cy="10369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25355" cy="10369677"/>
            </a:xfrm>
            <a:custGeom>
              <a:avLst/>
              <a:gdLst/>
              <a:ahLst/>
              <a:cxnLst/>
              <a:rect r="r" b="b" t="t" l="l"/>
              <a:pathLst>
                <a:path h="10369677" w="9825355">
                  <a:moveTo>
                    <a:pt x="0" y="0"/>
                  </a:moveTo>
                  <a:lnTo>
                    <a:pt x="9825355" y="0"/>
                  </a:lnTo>
                  <a:lnTo>
                    <a:pt x="9825355" y="10369677"/>
                  </a:lnTo>
                  <a:lnTo>
                    <a:pt x="0" y="10369677"/>
                  </a:lnTo>
                  <a:close/>
                </a:path>
              </a:pathLst>
            </a:custGeom>
            <a:solidFill>
              <a:srgbClr val="9FE3C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76967" y="2565340"/>
            <a:ext cx="6682673" cy="581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5404" spc="-54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80% · 90%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967" y="3279762"/>
            <a:ext cx="7025830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PREDICTION INTERVALS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6967" y="3683117"/>
            <a:ext cx="6682673" cy="66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Point forecasts are shown with 80% and 90% prediction intervals, so users can see both the expected value and the range around it.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76967" y="4580039"/>
            <a:ext cx="6682673" cy="28594"/>
            <a:chOff x="0" y="0"/>
            <a:chExt cx="8910231" cy="381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10193" cy="38100"/>
            </a:xfrm>
            <a:custGeom>
              <a:avLst/>
              <a:gdLst/>
              <a:ahLst/>
              <a:cxnLst/>
              <a:rect r="r" b="b" t="t" l="l"/>
              <a:pathLst>
                <a:path h="38100" w="891019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91143" y="0"/>
                  </a:lnTo>
                  <a:cubicBezTo>
                    <a:pt x="8901685" y="0"/>
                    <a:pt x="8910193" y="8509"/>
                    <a:pt x="8910193" y="19050"/>
                  </a:cubicBezTo>
                  <a:cubicBezTo>
                    <a:pt x="8910193" y="29591"/>
                    <a:pt x="8901685" y="38100"/>
                    <a:pt x="889114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9FE3C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76967" y="4823136"/>
            <a:ext cx="6682673" cy="66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The interface presents forecast values and interval bounds for all four horizons.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967" y="5657517"/>
            <a:ext cx="6682673" cy="50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INTERVALS USE SAVED CONFORMAL CALIBRATION RADII AND ARE INTENDED FOR RESEARCH USE ONLY.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703354" y="2670277"/>
            <a:ext cx="8492747" cy="5624141"/>
            <a:chOff x="0" y="0"/>
            <a:chExt cx="11323663" cy="7498855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1323701" cy="7498842"/>
            </a:xfrm>
            <a:custGeom>
              <a:avLst/>
              <a:gdLst/>
              <a:ahLst/>
              <a:cxnLst/>
              <a:rect r="r" b="b" t="t" l="l"/>
              <a:pathLst>
                <a:path h="7498842" w="11323701">
                  <a:moveTo>
                    <a:pt x="0" y="0"/>
                  </a:moveTo>
                  <a:lnTo>
                    <a:pt x="11323701" y="0"/>
                  </a:lnTo>
                  <a:lnTo>
                    <a:pt x="11323701" y="7498842"/>
                  </a:lnTo>
                  <a:lnTo>
                    <a:pt x="0" y="7498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0" r="0" b="-8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703354" y="8370094"/>
            <a:ext cx="8492747" cy="50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A3C7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EXPECTED VALUE AND INTERVAL BOUNDS REMAIN ADJACENT IN THE WORKFLOW.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800" y="462324"/>
            <a:ext cx="17768040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157">
                <a:solidFill>
                  <a:srgbClr val="9FE3C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05 / EVALUATION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800" y="854364"/>
            <a:ext cx="17234230" cy="52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4203" spc="-21">
                <a:solidFill>
                  <a:srgbClr val="F4F3E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Performance is strongest at 30 minutes and degrades with horizon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33800" y="1542469"/>
            <a:ext cx="9353036" cy="8333146"/>
            <a:chOff x="0" y="0"/>
            <a:chExt cx="12470714" cy="111108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70765" cy="11110849"/>
            </a:xfrm>
            <a:custGeom>
              <a:avLst/>
              <a:gdLst/>
              <a:ahLst/>
              <a:cxnLst/>
              <a:rect r="r" b="b" t="t" l="l"/>
              <a:pathLst>
                <a:path h="11110849" w="12470765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12348718" y="0"/>
                  </a:lnTo>
                  <a:cubicBezTo>
                    <a:pt x="12416155" y="0"/>
                    <a:pt x="12470765" y="54610"/>
                    <a:pt x="12470765" y="122047"/>
                  </a:cubicBezTo>
                  <a:lnTo>
                    <a:pt x="12470765" y="10988802"/>
                  </a:lnTo>
                  <a:cubicBezTo>
                    <a:pt x="12470765" y="11056239"/>
                    <a:pt x="12416155" y="11110849"/>
                    <a:pt x="12348718" y="11110849"/>
                  </a:cubicBezTo>
                  <a:lnTo>
                    <a:pt x="122047" y="11110849"/>
                  </a:lnTo>
                  <a:cubicBezTo>
                    <a:pt x="54610" y="11110849"/>
                    <a:pt x="0" y="11056239"/>
                    <a:pt x="0" y="10988802"/>
                  </a:cubicBezTo>
                  <a:close/>
                </a:path>
              </a:pathLst>
            </a:custGeom>
            <a:solidFill>
              <a:srgbClr val="1320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00710" y="1776012"/>
            <a:ext cx="9086126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94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HELD-OUT TEST RESULTS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0710" y="2120970"/>
            <a:ext cx="8007058" cy="4194277"/>
            <a:chOff x="0" y="0"/>
            <a:chExt cx="10676077" cy="559236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676128" cy="5592318"/>
            </a:xfrm>
            <a:custGeom>
              <a:avLst/>
              <a:gdLst/>
              <a:ahLst/>
              <a:cxnLst/>
              <a:rect r="r" b="b" t="t" l="l"/>
              <a:pathLst>
                <a:path h="5592318" w="10676128">
                  <a:moveTo>
                    <a:pt x="0" y="0"/>
                  </a:moveTo>
                  <a:lnTo>
                    <a:pt x="10676128" y="0"/>
                  </a:lnTo>
                  <a:lnTo>
                    <a:pt x="10676128" y="5592318"/>
                  </a:lnTo>
                  <a:lnTo>
                    <a:pt x="0" y="5592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2" r="0" b="-11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00710" y="6390913"/>
            <a:ext cx="8819226" cy="50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30 MIN: MAE 9.068, RMSE 12.862, R² 0.957 · 120 MIN: MAE 24.864, RMSE 34.331, R² 0.694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115464" y="1542469"/>
            <a:ext cx="7652575" cy="8333146"/>
            <a:chOff x="0" y="0"/>
            <a:chExt cx="10203434" cy="111108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03434" cy="11110849"/>
            </a:xfrm>
            <a:custGeom>
              <a:avLst/>
              <a:gdLst/>
              <a:ahLst/>
              <a:cxnLst/>
              <a:rect r="r" b="b" t="t" l="l"/>
              <a:pathLst>
                <a:path h="11110849" w="10203434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10081387" y="0"/>
                  </a:lnTo>
                  <a:cubicBezTo>
                    <a:pt x="10148824" y="0"/>
                    <a:pt x="10203434" y="54610"/>
                    <a:pt x="10203434" y="122047"/>
                  </a:cubicBezTo>
                  <a:lnTo>
                    <a:pt x="10203434" y="10988802"/>
                  </a:lnTo>
                  <a:cubicBezTo>
                    <a:pt x="10203434" y="11056239"/>
                    <a:pt x="10148824" y="11110849"/>
                    <a:pt x="10081387" y="11110849"/>
                  </a:cubicBezTo>
                  <a:lnTo>
                    <a:pt x="122047" y="11110849"/>
                  </a:lnTo>
                  <a:cubicBezTo>
                    <a:pt x="54610" y="11110849"/>
                    <a:pt x="0" y="11056239"/>
                    <a:pt x="0" y="10988802"/>
                  </a:cubicBezTo>
                  <a:close/>
                </a:path>
              </a:pathLst>
            </a:custGeom>
            <a:solidFill>
              <a:srgbClr val="F4F3E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458621" y="1885636"/>
            <a:ext cx="6958508" cy="4041762"/>
            <a:chOff x="0" y="0"/>
            <a:chExt cx="9278010" cy="538901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277985" cy="5388991"/>
            </a:xfrm>
            <a:custGeom>
              <a:avLst/>
              <a:gdLst/>
              <a:ahLst/>
              <a:cxnLst/>
              <a:rect r="r" b="b" t="t" l="l"/>
              <a:pathLst>
                <a:path h="5388991" w="9277985">
                  <a:moveTo>
                    <a:pt x="0" y="0"/>
                  </a:moveTo>
                  <a:lnTo>
                    <a:pt x="9277985" y="0"/>
                  </a:lnTo>
                  <a:lnTo>
                    <a:pt x="9277985" y="5388991"/>
                  </a:lnTo>
                  <a:lnTo>
                    <a:pt x="0" y="5388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3" r="0" b="-2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458621" y="6003065"/>
            <a:ext cx="6966261" cy="50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13201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EMPIRICAL COVERAGE EXCEEDED NOMINAL LEVELS AT EVERY HORIZON.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58621" y="6594681"/>
            <a:ext cx="6966261" cy="66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13201B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80% intervals: 82.626%–83.290%</a:t>
            </a:r>
          </a:p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13201B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90% intervals: 91.993%–93.006%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58621" y="7367102"/>
            <a:ext cx="6966261" cy="50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13201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RETROSPECTIVE HELD-OUT TEST RESULTS, NOT CLINICAL VALIDATION.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800" y="462324"/>
            <a:ext cx="17768040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157">
                <a:solidFill>
                  <a:srgbClr val="9FE3C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06 / INTEGRATION SURFACE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800" y="854364"/>
            <a:ext cx="17234230" cy="52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4203" spc="-21">
                <a:solidFill>
                  <a:srgbClr val="F4F3E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Synthetic EHR shows the integration surface without claiming clinical linkage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29038" y="1537706"/>
            <a:ext cx="8512264" cy="7920866"/>
            <a:chOff x="0" y="0"/>
            <a:chExt cx="11349685" cy="105611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49736" cy="10561193"/>
            </a:xfrm>
            <a:custGeom>
              <a:avLst/>
              <a:gdLst/>
              <a:ahLst/>
              <a:cxnLst/>
              <a:rect r="r" b="b" t="t" l="l"/>
              <a:pathLst>
                <a:path h="10561193" w="11349736">
                  <a:moveTo>
                    <a:pt x="0" y="0"/>
                  </a:moveTo>
                  <a:lnTo>
                    <a:pt x="11349736" y="0"/>
                  </a:lnTo>
                  <a:lnTo>
                    <a:pt x="11349736" y="10561193"/>
                  </a:lnTo>
                  <a:lnTo>
                    <a:pt x="0" y="10561193"/>
                  </a:lnTo>
                  <a:close/>
                </a:path>
              </a:pathLst>
            </a:custGeom>
            <a:solidFill>
              <a:srgbClr val="13201B"/>
            </a:solidFill>
            <a:ln w="9532" cap="sq">
              <a:solidFill>
                <a:srgbClr val="8CA89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10235" y="1780784"/>
            <a:ext cx="7721089" cy="2955055"/>
            <a:chOff x="0" y="0"/>
            <a:chExt cx="10294785" cy="394007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294747" cy="3940048"/>
            </a:xfrm>
            <a:custGeom>
              <a:avLst/>
              <a:gdLst/>
              <a:ahLst/>
              <a:cxnLst/>
              <a:rect r="r" b="b" t="t" l="l"/>
              <a:pathLst>
                <a:path h="3940048" w="10294747">
                  <a:moveTo>
                    <a:pt x="0" y="0"/>
                  </a:moveTo>
                  <a:lnTo>
                    <a:pt x="10294747" y="0"/>
                  </a:lnTo>
                  <a:lnTo>
                    <a:pt x="10294747" y="3940048"/>
                  </a:lnTo>
                  <a:lnTo>
                    <a:pt x="0" y="3940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9" r="0" b="-8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10235" y="4931254"/>
            <a:ext cx="8226295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94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SYNTHETIC PROFILE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0235" y="5257162"/>
            <a:ext cx="7949860" cy="66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FFFFFF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Synthetic profiles expose demographics, condition counts, observation counts, medication counts, and virtual-patient mapping.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60538" y="1537706"/>
            <a:ext cx="8512264" cy="7920866"/>
            <a:chOff x="0" y="0"/>
            <a:chExt cx="11349685" cy="105611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9736" cy="10561193"/>
            </a:xfrm>
            <a:custGeom>
              <a:avLst/>
              <a:gdLst/>
              <a:ahLst/>
              <a:cxnLst/>
              <a:rect r="r" b="b" t="t" l="l"/>
              <a:pathLst>
                <a:path h="10561193" w="11349736">
                  <a:moveTo>
                    <a:pt x="0" y="0"/>
                  </a:moveTo>
                  <a:lnTo>
                    <a:pt x="11349736" y="0"/>
                  </a:lnTo>
                  <a:lnTo>
                    <a:pt x="11349736" y="10561193"/>
                  </a:lnTo>
                  <a:lnTo>
                    <a:pt x="0" y="10561193"/>
                  </a:lnTo>
                  <a:close/>
                </a:path>
              </a:pathLst>
            </a:custGeom>
            <a:solidFill>
              <a:srgbClr val="13201B"/>
            </a:solidFill>
            <a:ln w="9532" cap="sq">
              <a:solidFill>
                <a:srgbClr val="8CA89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541745" y="1780784"/>
            <a:ext cx="7721089" cy="2955055"/>
            <a:chOff x="0" y="0"/>
            <a:chExt cx="10294785" cy="394007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294747" cy="3940048"/>
            </a:xfrm>
            <a:custGeom>
              <a:avLst/>
              <a:gdLst/>
              <a:ahLst/>
              <a:cxnLst/>
              <a:rect r="r" b="b" t="t" l="l"/>
              <a:pathLst>
                <a:path h="3940048" w="10294747">
                  <a:moveTo>
                    <a:pt x="0" y="0"/>
                  </a:moveTo>
                  <a:lnTo>
                    <a:pt x="10294747" y="0"/>
                  </a:lnTo>
                  <a:lnTo>
                    <a:pt x="10294747" y="3940048"/>
                  </a:lnTo>
                  <a:lnTo>
                    <a:pt x="0" y="3940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9" r="0" b="-8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41745" y="4931254"/>
            <a:ext cx="8226295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94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DEMONSTRATION PANEL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41745" y="5257162"/>
            <a:ext cx="7949860" cy="66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FFFFFF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EHR and CGM identities are paired arbitrarily for UI demonstration; the linkage is not clinically verified, and synthetic EHR data is not model input.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3800" y="9624803"/>
            <a:ext cx="17768040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A3C7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THE EHR SURFACE DEMONSTRATES A FUTURE INTEGRATION BOUNDARY, NOT A CLINICAL DATA RELATIONSHIP.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800" y="462324"/>
            <a:ext cx="12351058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157">
                <a:solidFill>
                  <a:srgbClr val="9FE3C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07 / RESEARCH PATH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800" y="854364"/>
            <a:ext cx="12351058" cy="11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4203" spc="-21">
                <a:solidFill>
                  <a:srgbClr val="F4F3E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Implemented today, with a clear path to validated research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52730" y="456971"/>
            <a:ext cx="3015158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A3C7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PROTOTYPE → VALIDATION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33800" y="2098329"/>
            <a:ext cx="3059544" cy="7777286"/>
            <a:chOff x="0" y="0"/>
            <a:chExt cx="4079392" cy="10369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79494" cy="10369803"/>
            </a:xfrm>
            <a:custGeom>
              <a:avLst/>
              <a:gdLst/>
              <a:ahLst/>
              <a:cxnLst/>
              <a:rect r="r" b="b" t="t" l="l"/>
              <a:pathLst>
                <a:path h="10369803" w="4079494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3957447" y="0"/>
                  </a:lnTo>
                  <a:cubicBezTo>
                    <a:pt x="4024884" y="0"/>
                    <a:pt x="4079494" y="54610"/>
                    <a:pt x="4079494" y="122047"/>
                  </a:cubicBezTo>
                  <a:lnTo>
                    <a:pt x="4079494" y="10247757"/>
                  </a:lnTo>
                  <a:cubicBezTo>
                    <a:pt x="4079494" y="10315194"/>
                    <a:pt x="4024884" y="10369803"/>
                    <a:pt x="3957447" y="10369803"/>
                  </a:cubicBezTo>
                  <a:lnTo>
                    <a:pt x="122047" y="10369803"/>
                  </a:lnTo>
                  <a:cubicBezTo>
                    <a:pt x="54610" y="10369803"/>
                    <a:pt x="0" y="10315194"/>
                    <a:pt x="0" y="10247757"/>
                  </a:cubicBezTo>
                  <a:close/>
                </a:path>
              </a:pathLst>
            </a:custGeom>
            <a:solidFill>
              <a:srgbClr val="F4F3EC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00710" y="2331872"/>
            <a:ext cx="2792635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94">
                <a:solidFill>
                  <a:srgbClr val="13201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IMPLEMENTED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0710" y="2719740"/>
            <a:ext cx="2525735" cy="291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13201B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Held-out patient selection, historical segment and timestamp selection, CGM state display, multi-horizon forecasts, prediction intervals, evaluation table, and synthetic EHR demonstration.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822116" y="2098329"/>
            <a:ext cx="3059687" cy="7777286"/>
            <a:chOff x="0" y="0"/>
            <a:chExt cx="4079583" cy="103697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79621" cy="10369677"/>
            </a:xfrm>
            <a:custGeom>
              <a:avLst/>
              <a:gdLst/>
              <a:ahLst/>
              <a:cxnLst/>
              <a:rect r="r" b="b" t="t" l="l"/>
              <a:pathLst>
                <a:path h="10369677" w="4079621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3957574" y="0"/>
                  </a:lnTo>
                  <a:cubicBezTo>
                    <a:pt x="4025011" y="0"/>
                    <a:pt x="4079621" y="54610"/>
                    <a:pt x="4079621" y="122047"/>
                  </a:cubicBezTo>
                  <a:lnTo>
                    <a:pt x="4079621" y="10247630"/>
                  </a:lnTo>
                  <a:cubicBezTo>
                    <a:pt x="4079621" y="10315067"/>
                    <a:pt x="4025011" y="10369677"/>
                    <a:pt x="3957574" y="10369677"/>
                  </a:cubicBezTo>
                  <a:lnTo>
                    <a:pt x="122047" y="10369677"/>
                  </a:lnTo>
                  <a:cubicBezTo>
                    <a:pt x="54610" y="10369677"/>
                    <a:pt x="0" y="10315067"/>
                    <a:pt x="0" y="10247630"/>
                  </a:cubicBezTo>
                  <a:close/>
                </a:path>
              </a:pathLst>
            </a:custGeom>
            <a:solidFill>
              <a:srgbClr val="F4F3E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089016" y="2331872"/>
            <a:ext cx="2792787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94">
                <a:solidFill>
                  <a:srgbClr val="13201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CURRENT LIMITS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89016" y="2719740"/>
            <a:ext cx="2525887" cy="227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13201B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Retrospective evaluation only, no real-time CGM connection, no clinical validation, no verified EHR–CGM linkage, and no EHR input to the current model.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086752" y="2074497"/>
            <a:ext cx="3107198" cy="7824949"/>
            <a:chOff x="0" y="0"/>
            <a:chExt cx="4142930" cy="104332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42994" cy="10433304"/>
            </a:xfrm>
            <a:custGeom>
              <a:avLst/>
              <a:gdLst/>
              <a:ahLst/>
              <a:cxnLst/>
              <a:rect r="r" b="b" t="t" l="l"/>
              <a:pathLst>
                <a:path h="10433304" w="4142994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4019042" y="0"/>
                  </a:lnTo>
                  <a:cubicBezTo>
                    <a:pt x="4087495" y="0"/>
                    <a:pt x="4142994" y="55499"/>
                    <a:pt x="4142994" y="123952"/>
                  </a:cubicBezTo>
                  <a:lnTo>
                    <a:pt x="4142994" y="10309352"/>
                  </a:lnTo>
                  <a:cubicBezTo>
                    <a:pt x="4142994" y="10377805"/>
                    <a:pt x="4087495" y="10433304"/>
                    <a:pt x="4019042" y="10433304"/>
                  </a:cubicBezTo>
                  <a:lnTo>
                    <a:pt x="123952" y="10433304"/>
                  </a:lnTo>
                  <a:cubicBezTo>
                    <a:pt x="55499" y="10433304"/>
                    <a:pt x="0" y="10377805"/>
                    <a:pt x="0" y="10309352"/>
                  </a:cubicBezTo>
                  <a:close/>
                </a:path>
              </a:pathLst>
            </a:custGeom>
            <a:solidFill>
              <a:srgbClr val="F4F3EC"/>
            </a:solidFill>
            <a:ln w="47661" cap="sq">
              <a:solidFill>
                <a:srgbClr val="F2D13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425147" y="2374773"/>
            <a:ext cx="820664" cy="386515"/>
            <a:chOff x="0" y="0"/>
            <a:chExt cx="1094219" cy="5153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4232" cy="515366"/>
            </a:xfrm>
            <a:custGeom>
              <a:avLst/>
              <a:gdLst/>
              <a:ahLst/>
              <a:cxnLst/>
              <a:rect r="r" b="b" t="t" l="l"/>
              <a:pathLst>
                <a:path h="515366" w="1094232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1054608" y="0"/>
                  </a:lnTo>
                  <a:cubicBezTo>
                    <a:pt x="1076452" y="0"/>
                    <a:pt x="1094232" y="17780"/>
                    <a:pt x="1094232" y="39624"/>
                  </a:cubicBezTo>
                  <a:lnTo>
                    <a:pt x="1094232" y="475742"/>
                  </a:lnTo>
                  <a:cubicBezTo>
                    <a:pt x="1094232" y="497586"/>
                    <a:pt x="1076452" y="515366"/>
                    <a:pt x="1054608" y="515366"/>
                  </a:cubicBezTo>
                  <a:lnTo>
                    <a:pt x="39624" y="515366"/>
                  </a:lnTo>
                  <a:cubicBezTo>
                    <a:pt x="17780" y="515366"/>
                    <a:pt x="0" y="497586"/>
                    <a:pt x="0" y="475742"/>
                  </a:cubicBezTo>
                  <a:close/>
                </a:path>
              </a:pathLst>
            </a:custGeom>
            <a:solidFill>
              <a:srgbClr val="113B28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573785" y="2454497"/>
            <a:ext cx="1438475" cy="23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93">
                <a:solidFill>
                  <a:srgbClr val="E3ECE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NEXT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25147" y="2913812"/>
            <a:ext cx="2430418" cy="259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13201B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Independent cohorts, verified and consented linkage, uncertainty calibration, subgroup analysis, EHR-aware modeling, and validated real-time integration.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398900" y="2098329"/>
            <a:ext cx="7369140" cy="7777286"/>
            <a:chOff x="0" y="0"/>
            <a:chExt cx="9825520" cy="103697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25482" cy="10369677"/>
            </a:xfrm>
            <a:custGeom>
              <a:avLst/>
              <a:gdLst/>
              <a:ahLst/>
              <a:cxnLst/>
              <a:rect r="r" b="b" t="t" l="l"/>
              <a:pathLst>
                <a:path h="10369677" w="9825482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9703435" y="0"/>
                  </a:lnTo>
                  <a:cubicBezTo>
                    <a:pt x="9770872" y="0"/>
                    <a:pt x="9825482" y="54610"/>
                    <a:pt x="9825482" y="122047"/>
                  </a:cubicBezTo>
                  <a:lnTo>
                    <a:pt x="9825482" y="10247630"/>
                  </a:lnTo>
                  <a:cubicBezTo>
                    <a:pt x="9825482" y="10315067"/>
                    <a:pt x="9770872" y="10369677"/>
                    <a:pt x="9703435" y="10369677"/>
                  </a:cubicBezTo>
                  <a:lnTo>
                    <a:pt x="122047" y="10369677"/>
                  </a:lnTo>
                  <a:cubicBezTo>
                    <a:pt x="54610" y="10369677"/>
                    <a:pt x="0" y="10315067"/>
                    <a:pt x="0" y="10247630"/>
                  </a:cubicBezTo>
                  <a:close/>
                </a:path>
              </a:pathLst>
            </a:custGeom>
            <a:solidFill>
              <a:srgbClr val="F4F3E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665800" y="2365238"/>
            <a:ext cx="6672548" cy="4804353"/>
            <a:chOff x="0" y="0"/>
            <a:chExt cx="8896731" cy="6405804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8896731" cy="6405753"/>
            </a:xfrm>
            <a:custGeom>
              <a:avLst/>
              <a:gdLst/>
              <a:ahLst/>
              <a:cxnLst/>
              <a:rect r="r" b="b" t="t" l="l"/>
              <a:pathLst>
                <a:path h="6405753" w="8896731">
                  <a:moveTo>
                    <a:pt x="0" y="0"/>
                  </a:moveTo>
                  <a:lnTo>
                    <a:pt x="8896731" y="0"/>
                  </a:lnTo>
                  <a:lnTo>
                    <a:pt x="8896731" y="6405753"/>
                  </a:lnTo>
                  <a:lnTo>
                    <a:pt x="0" y="6405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" t="0" r="-36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65800" y="7435910"/>
            <a:ext cx="7102240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13201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HISTORICAL-VERSUS-PREDICTED EVALUATION CONTEXT.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800" y="462324"/>
            <a:ext cx="12638370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157">
                <a:solidFill>
                  <a:srgbClr val="9FE3C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08 / CLOSE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800" y="854364"/>
            <a:ext cx="12638370" cy="11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4203" spc="-21">
                <a:solidFill>
                  <a:srgbClr val="F4F3E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GlucoTwin is a foundation for transparent digital-twin research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25947" y="456971"/>
            <a:ext cx="2342093" cy="25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78">
                <a:solidFill>
                  <a:srgbClr val="A3C7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RESEARCH PROTOTYPE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5738" y="4199258"/>
            <a:ext cx="9059475" cy="195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5404" spc="-54">
                <a:solidFill>
                  <a:srgbClr val="F4F3E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Replay the state.</a:t>
            </a:r>
          </a:p>
          <a:p>
            <a:pPr algn="l">
              <a:lnSpc>
                <a:spcPts val="5382"/>
              </a:lnSpc>
            </a:pPr>
            <a:r>
              <a:rPr lang="en-US" sz="5404" spc="-54">
                <a:solidFill>
                  <a:srgbClr val="F4F3E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Show the range.</a:t>
            </a:r>
          </a:p>
          <a:p>
            <a:pPr algn="l">
              <a:lnSpc>
                <a:spcPts val="5382"/>
              </a:lnSpc>
            </a:pPr>
            <a:r>
              <a:rPr lang="en-US" sz="5404" spc="-54">
                <a:solidFill>
                  <a:srgbClr val="F4F3E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Expose the limits.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05738" y="6348012"/>
            <a:ext cx="2989393" cy="47511"/>
            <a:chOff x="0" y="0"/>
            <a:chExt cx="3985857" cy="633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85768" cy="63247"/>
            </a:xfrm>
            <a:custGeom>
              <a:avLst/>
              <a:gdLst/>
              <a:ahLst/>
              <a:cxnLst/>
              <a:rect r="r" b="b" t="t" l="l"/>
              <a:pathLst>
                <a:path h="63247" w="3985768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3954145" y="0"/>
                  </a:lnTo>
                  <a:cubicBezTo>
                    <a:pt x="3971671" y="0"/>
                    <a:pt x="3985768" y="14224"/>
                    <a:pt x="3985768" y="31623"/>
                  </a:cubicBezTo>
                  <a:cubicBezTo>
                    <a:pt x="3985768" y="49149"/>
                    <a:pt x="3971544" y="63246"/>
                    <a:pt x="3954145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9FE3C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05738" y="6607788"/>
            <a:ext cx="9059475" cy="132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E3ECE7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Interactive CGM historical replay dashboard.</a:t>
            </a:r>
          </a:p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E3ECE7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Multi-horizon forecasting for 30, 60, 90, and 120 minutes with prediction intervals.</a:t>
            </a:r>
          </a:p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E3ECE7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Held-out evaluation plus a separate synthetic EHR demonstration interface.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65761" y="2098329"/>
            <a:ext cx="6802269" cy="7777286"/>
            <a:chOff x="0" y="0"/>
            <a:chExt cx="9069692" cy="103697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69705" cy="10369803"/>
            </a:xfrm>
            <a:custGeom>
              <a:avLst/>
              <a:gdLst/>
              <a:ahLst/>
              <a:cxnLst/>
              <a:rect r="r" b="b" t="t" l="l"/>
              <a:pathLst>
                <a:path h="10369803" w="9069705">
                  <a:moveTo>
                    <a:pt x="0" y="122047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8947658" y="0"/>
                  </a:lnTo>
                  <a:cubicBezTo>
                    <a:pt x="9014968" y="0"/>
                    <a:pt x="9069705" y="54610"/>
                    <a:pt x="9069705" y="122047"/>
                  </a:cubicBezTo>
                  <a:lnTo>
                    <a:pt x="9069705" y="10247757"/>
                  </a:lnTo>
                  <a:cubicBezTo>
                    <a:pt x="9069705" y="10315067"/>
                    <a:pt x="9015095" y="10369803"/>
                    <a:pt x="8947658" y="10369803"/>
                  </a:cubicBezTo>
                  <a:lnTo>
                    <a:pt x="122047" y="10369803"/>
                  </a:lnTo>
                  <a:cubicBezTo>
                    <a:pt x="54737" y="10369803"/>
                    <a:pt x="0" y="10315194"/>
                    <a:pt x="0" y="10247757"/>
                  </a:cubicBezTo>
                  <a:close/>
                </a:path>
              </a:pathLst>
            </a:custGeom>
            <a:solidFill>
              <a:srgbClr val="F2D13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347047" y="5371233"/>
            <a:ext cx="6420983" cy="24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b="true" sz="1576" spc="94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GLUCOTWIN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47047" y="5734279"/>
            <a:ext cx="6039698" cy="3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3002" spc="-15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47047" y="6266107"/>
            <a:ext cx="6420983" cy="34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DAHYwgBXylI</dc:identifier>
  <dcterms:modified xsi:type="dcterms:W3CDTF">2011-08-01T06:04:30Z</dcterms:modified>
  <cp:revision>1</cp:revision>
  <dc:title>GlucoTwin-A-CGM-Based-Digital-Twin-Research-Prototype.pptx</dc:title>
</cp:coreProperties>
</file>